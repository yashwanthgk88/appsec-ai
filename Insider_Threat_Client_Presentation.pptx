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645920"/>
            <a:ext cx="548640" cy="508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400"/>
              </a:lnSpc>
              <a:defRPr sz="4400" b="1">
                <a:solidFill>
                  <a:srgbClr val="FFFFFF"/>
                </a:solidFill>
              </a:defRPr>
            </a:pPr>
            <a:r>
              <a:t>Detecting Insider Threats</a:t>
            </a:r>
            <a:br/>
            <a:r>
              <a:t>Through Commit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</a:defRPr>
            </a:pPr>
            <a:r>
              <a:t>Every code commit contains rich behavioral and technical signals. By analyzing metadata,</a:t>
            </a:r>
            <a:br/>
            <a:r>
              <a:t>file changes, code diffs, and developer patterns, we detect insider threat indicators in real-time.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4000" b="1">
                <a:solidFill>
                  <a:srgbClr val="EF4444"/>
                </a:solidFill>
              </a:defRPr>
            </a:pPr>
            <a:r>
              <a:t>13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4748B"/>
                </a:solidFill>
              </a:defRPr>
            </a:pPr>
            <a:r>
              <a:t>Threat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475488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4000" b="1">
                <a:solidFill>
                  <a:srgbClr val="F97316"/>
                </a:solidFill>
              </a:defRPr>
            </a:pPr>
            <a:r>
              <a:t>4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4748B"/>
                </a:solidFill>
              </a:defRPr>
            </a:pPr>
            <a:r>
              <a:t>Data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75488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4000" b="1">
                <a:solidFill>
                  <a:srgbClr val="6366F1"/>
                </a:solidFill>
              </a:defRPr>
            </a:pPr>
            <a:r>
              <a:t>58+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4748B"/>
                </a:solidFill>
              </a:defRPr>
            </a:pPr>
            <a:r>
              <a:t>Detection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75488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4000" b="1">
                <a:solidFill>
                  <a:srgbClr val="06B6D4"/>
                </a:solidFill>
              </a:defRPr>
            </a:pPr>
            <a:r>
              <a:t>0–10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4748B"/>
                </a:solidFill>
              </a:defRPr>
            </a:pPr>
            <a:r>
              <a:t>Risk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64748B"/>
                </a:solidFill>
              </a:defRPr>
            </a:pPr>
            <a:r>
              <a:t>INSIDER THREAT INTELLIGENCE  |  SECUREDEV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01  </a:t>
            </a:r>
            <a:r>
              <a:rPr sz="28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011680" cy="32004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6366F1"/>
                </a:solidFill>
              </a:defRPr>
            </a:pPr>
            <a:r>
              <a:t>1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Commit Pushed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94A3B8"/>
                </a:solidFill>
              </a:defRPr>
            </a:pPr>
            <a:r>
              <a:t>Developer pushes code</a:t>
            </a:r>
            <a:br/>
            <a:r>
              <a:t>to GitHub / GitLab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30175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2011680" cy="32004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6366F1"/>
                </a:solidFill>
              </a:defRPr>
            </a:pPr>
            <a:r>
              <a:t>2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Data Extracted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94A3B8"/>
                </a:solidFill>
              </a:defRPr>
            </a:pPr>
            <a:r>
              <a:t>API fetches metadata,</a:t>
            </a:r>
            <a:br/>
            <a:r>
              <a:t>stats, files, and diff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0175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828800"/>
            <a:ext cx="2011680" cy="32004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10312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6366F1"/>
                </a:solidFill>
              </a:defRPr>
            </a:pPr>
            <a:r>
              <a:t>3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Multi-Layer Scan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94A3B8"/>
                </a:solidFill>
              </a:defRPr>
            </a:pPr>
            <a:r>
              <a:t>13 signal detectors analyze</a:t>
            </a:r>
            <a:br/>
            <a:r>
              <a:t>each data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0175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28800"/>
            <a:ext cx="2011680" cy="32004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10312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6366F1"/>
                </a:solidFill>
              </a:defRPr>
            </a:pPr>
            <a:r>
              <a:t>4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Baseline Check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94A3B8"/>
                </a:solidFill>
              </a:defRPr>
            </a:pPr>
            <a:r>
              <a:t>Compare against developer's</a:t>
            </a:r>
            <a:br/>
            <a:r>
              <a:t>behavioral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0175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828800"/>
            <a:ext cx="2011680" cy="32004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10312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6366F1"/>
                </a:solidFill>
              </a:defRPr>
            </a:pPr>
            <a:r>
              <a:t>5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Risk Score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94A3B8"/>
                </a:solidFill>
              </a:defRPr>
            </a:pPr>
            <a:r>
              <a:t>Weighted 0-10 score with</a:t>
            </a:r>
            <a:br/>
            <a:r>
              <a:t>risk level and alert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02  </a:t>
            </a:r>
            <a:r>
              <a:rPr sz="2800" b="1">
                <a:solidFill>
                  <a:srgbClr val="FFFFFF"/>
                </a:solidFill>
              </a:rPr>
              <a:t>Anatomy of a Git Commit — 4 Data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43200" cy="47548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6366F1"/>
                </a:solidFill>
              </a:defRPr>
            </a:pPr>
            <a:r>
              <a:t>Layer 1</a:t>
            </a:r>
          </a:p>
          <a:p>
            <a:pPr algn="l">
              <a:spcAft>
                <a:spcPts val="1200"/>
              </a:spcAft>
              <a:defRPr sz="1700" b="1">
                <a:solidFill>
                  <a:srgbClr val="FFFFFF"/>
                </a:solidFill>
              </a:defRPr>
            </a:pPr>
            <a:r>
              <a:t>Metadata — The Envelope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366F1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author.name / author.email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366F1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committer.name / committer.email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366F1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author.date (timestamp)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366F1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verification (GPG signed?)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366F1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message (description)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743200" cy="47548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F97316"/>
                </a:solidFill>
              </a:defRPr>
            </a:pPr>
            <a:r>
              <a:t>Layer 2</a:t>
            </a:r>
          </a:p>
          <a:p>
            <a:pPr algn="l">
              <a:spcAft>
                <a:spcPts val="1200"/>
              </a:spcAft>
              <a:defRPr sz="1700" b="1">
                <a:solidFill>
                  <a:srgbClr val="FFFFFF"/>
                </a:solidFill>
              </a:defRPr>
            </a:pPr>
            <a:r>
              <a:t>Statistics — The Size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97316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stats.additions (lines added)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97316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stats.deletions (lines deleted)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97316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stats.total (combined)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97316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files_changed (count)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743200" cy="47548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Layer 3</a:t>
            </a:r>
          </a:p>
          <a:p>
            <a:pPr algn="l">
              <a:spcAft>
                <a:spcPts val="1200"/>
              </a:spcAft>
              <a:defRPr sz="1700" b="1">
                <a:solidFill>
                  <a:srgbClr val="FFFFFF"/>
                </a:solidFill>
              </a:defRPr>
            </a:pPr>
            <a:r>
              <a:t>Files Changed — The Surface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0B981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filename (full path)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0B981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status (added/modified/removed)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0B981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per-file additions &amp; deletions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0B981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previous_filename (if renamed)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371600"/>
            <a:ext cx="2743200" cy="47548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5544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Layer 4</a:t>
            </a:r>
          </a:p>
          <a:p>
            <a:pPr algn="l">
              <a:spcAft>
                <a:spcPts val="1200"/>
              </a:spcAft>
              <a:defRPr sz="1700" b="1">
                <a:solidFill>
                  <a:srgbClr val="FFFFFF"/>
                </a:solidFill>
              </a:defRPr>
            </a:pPr>
            <a:r>
              <a:t>The Diff — Actual Code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F4444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Line-by-line unified diff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F4444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+ lines = code added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F4444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– lines = code removed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F4444"/>
                </a:solidFill>
              </a:rPr>
              <a:t>•  </a:t>
            </a:r>
            <a:r>
              <a:rPr sz="1300">
                <a:solidFill>
                  <a:srgbClr val="CBD5E1"/>
                </a:solidFill>
              </a:rPr>
              <a:t>Scanned against 58+ SAST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03  </a:t>
            </a:r>
            <a:r>
              <a:rPr sz="2800" b="1">
                <a:solidFill>
                  <a:srgbClr val="FFFFFF"/>
                </a:solidFill>
              </a:rPr>
              <a:t>13 Insider Threat Signals We Detect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943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EF4444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4475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Malicious Code Patterns (SAST)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4475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EF4444"/>
                </a:solidFill>
              </a:defRPr>
            </a:pPr>
            <a:r>
              <a:t>+2.5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444752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t>Critical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84832"/>
            <a:ext cx="5486400" cy="5943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57984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EF4444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Secrets &amp; Credentials in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57984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EF4444"/>
                </a:solidFill>
              </a:defRPr>
            </a:pPr>
            <a:r>
              <a:t>+2.5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5798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t>Critical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98064"/>
            <a:ext cx="5486400" cy="5943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97316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7121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Sensitive File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871216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97316"/>
                </a:solidFill>
              </a:defRPr>
            </a:pPr>
            <a:r>
              <a:t>+1.5/file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71216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97316"/>
                </a:solidFill>
              </a:defRPr>
            </a:pPr>
            <a:r>
              <a:t>High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11296"/>
            <a:ext cx="5486400" cy="5943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8444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97316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8444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Author / Committer Mismatch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58444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97316"/>
                </a:solidFill>
              </a:defRPr>
            </a:pPr>
            <a:r>
              <a:t>+1.5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58444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97316"/>
                </a:solidFill>
              </a:defRPr>
            </a:pPr>
            <a:r>
              <a:t>High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24528"/>
            <a:ext cx="5486400" cy="5943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297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EAB308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976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Off-Hours Commit Activity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2976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EAB308"/>
                </a:solidFill>
              </a:defRPr>
            </a:pPr>
            <a:r>
              <a:t>+1.0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2976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AB308"/>
                </a:solidFill>
              </a:defRPr>
            </a:pPr>
            <a:r>
              <a:t>Medium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37760"/>
            <a:ext cx="5486400" cy="5943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109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EAB308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01091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Large Code Deletions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01091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EAB308"/>
                </a:solidFill>
              </a:defRPr>
            </a:pPr>
            <a:r>
              <a:t>+1.0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010912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AB308"/>
                </a:solidFill>
              </a:defRPr>
            </a:pPr>
            <a:r>
              <a:t>Medium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650992"/>
            <a:ext cx="5486400" cy="5943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724144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EAB308"/>
                </a:solidFill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724144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Unsigned Commits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5724144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EAB308"/>
                </a:solidFill>
              </a:defRPr>
            </a:pPr>
            <a:r>
              <a:t>+0.5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72414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AB308"/>
                </a:solidFill>
              </a:defRPr>
            </a:pPr>
            <a:r>
              <a:t>Medium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371600"/>
            <a:ext cx="5486400" cy="5943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144475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EF4444"/>
                </a:solidFill>
              </a:defRPr>
            </a:pPr>
            <a: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144475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Force Push (History Rewrite)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144475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EF4444"/>
                </a:solidFill>
              </a:defRPr>
            </a:pPr>
            <a:r>
              <a:t>+2.0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1444752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t>Critical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2084832"/>
            <a:ext cx="5486400" cy="5943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2157984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EAB308"/>
                </a:solidFill>
              </a:defRPr>
            </a:pPr>
            <a: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2157984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Suspicious Commit Messages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2157984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EAB308"/>
                </a:solidFill>
              </a:defRPr>
            </a:pPr>
            <a:r>
              <a:t>+0.5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215798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AB308"/>
                </a:solidFill>
              </a:defRPr>
            </a:pPr>
            <a:r>
              <a:t>Medium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2798064"/>
            <a:ext cx="5486400" cy="5943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2871216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97316"/>
                </a:solidFill>
              </a:defRPr>
            </a:pPr>
            <a: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287121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Binary File Injection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2871216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97316"/>
                </a:solidFill>
              </a:defRPr>
            </a:pPr>
            <a:r>
              <a:t>+1.0/file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2871216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97316"/>
                </a:solidFill>
              </a:defRPr>
            </a:pPr>
            <a:r>
              <a:t>High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3511296"/>
            <a:ext cx="5486400" cy="5943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358444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97316"/>
                </a:solidFill>
              </a:defRPr>
            </a:pPr>
            <a: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358444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Dependency Manipulation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358444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97316"/>
                </a:solidFill>
              </a:defRPr>
            </a:pPr>
            <a:r>
              <a:t>+1.5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358444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97316"/>
                </a:solidFill>
              </a:defRPr>
            </a:pPr>
            <a:r>
              <a:t>High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4224528"/>
            <a:ext cx="5486400" cy="5943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4297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EF4444"/>
                </a:solidFill>
              </a:defRPr>
            </a:pPr>
            <a: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42976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CI/CD Pipeline Tampering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42976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EF4444"/>
                </a:solidFill>
              </a:defRPr>
            </a:pPr>
            <a:r>
              <a:t>+1.5/find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42976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t>Critical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20" y="4937760"/>
            <a:ext cx="5486400" cy="5943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55080" y="50109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97316"/>
                </a:solidFill>
              </a:defRPr>
            </a:pPr>
            <a:r>
              <a:t>13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501091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Config &amp; Permission Weakening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501091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97316"/>
                </a:solidFill>
              </a:defRPr>
            </a:pPr>
            <a:r>
              <a:t>+1.0/find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89920" y="5010912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97316"/>
                </a:solidFill>
              </a:defRPr>
            </a:pPr>
            <a:r>
              <a:t>High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03a  </a:t>
            </a:r>
            <a:r>
              <a:rPr sz="2800" b="1">
                <a:solidFill>
                  <a:srgbClr val="FFFFFF"/>
                </a:solidFill>
              </a:rPr>
              <a:t>Critical Signals — Deep Dive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669280" cy="50292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1. Malicious Code Patterns (SAST on Diffs)  |  +2.5 pts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94A3B8"/>
                </a:solidFill>
              </a:defRPr>
            </a:pPr>
            <a:r>
              <a:t>Every added line scanned against 58 insider threat-specific rules: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Backdoor Insertion — hardcoded bypass credentials, hidden admin routes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Data Exfiltration — outbound HTTP to external endpoints, base64 data piping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Logging Tampering — disabling security logs, redirecting audit trails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Access Control Weakening — removing auth checks, broadening permissions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Obfuscation — base64/hex encoded payloads, eval() with dynamic strings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Crypto Weakening — downgrading encryption, weak ciphers, hardcoded keys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F97316"/>
                </a:solidFill>
              </a:defRPr>
            </a:pPr>
            <a:r>
              <a:t>Example: Backdoor Detected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10B981"/>
                </a:solidFill>
              </a:defRPr>
            </a:pPr>
            <a:r>
              <a:t>+ if user == "svc_maint" and pwd == "x9K#backdoor":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0B981"/>
                </a:solidFill>
              </a:defRPr>
            </a:pPr>
            <a:r>
              <a:t>+     return AuthResult(authenticated=True, role="admin")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669280" cy="237744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8. Force Push (History Rewrite)  |  +2.0 pts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</a:defRPr>
            </a:pPr>
            <a:r>
              <a:t>Replaces existing commits — erases evidence permanently.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Push malicious code → wait for deploy → force push to erase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Remove audit logs that were previously committed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Rewrite commit authorship to blame others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669280" cy="24688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23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2. Secrets &amp; Credentials in Code  |  +2.5 pts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</a:defRPr>
            </a:pPr>
            <a:r>
              <a:t>API keys, tokens, passwords, private keys in commits.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AWS Keys: AKIA[0-9A-Z]{16}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GitHub Tokens: ghp_[a-zA-Z0-9]{36}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Private Keys: -----BEGIN RSA PRIVATE KEY-----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Generic passwords: password = "hardcoded_value"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03b  </a:t>
            </a:r>
            <a:r>
              <a:rPr sz="2800" b="1">
                <a:solidFill>
                  <a:srgbClr val="FFFFFF"/>
                </a:solidFill>
              </a:rPr>
              <a:t>High &amp; Medium Signals — Deep Dive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3749039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3. Sensitive File Access</a:t>
            </a:r>
            <a:r>
              <a:rPr sz="1400" b="1">
                <a:solidFill>
                  <a:srgbClr val="F97316"/>
                </a:solidFill>
              </a:rPr>
              <a:t>  +1.5/file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97316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.env, .env.production — database passwords, API keys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97316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id_rsa, *.pem, *.pfx — private keys &amp; certificates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97316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terraform.tfstate — cloud credentials in plaintext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97316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shadow, passwd — system auth databases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280160"/>
            <a:ext cx="3749039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41732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4. Author/Committer Mismatch</a:t>
            </a:r>
            <a:r>
              <a:rPr sz="1400" b="1">
                <a:solidFill>
                  <a:srgbClr val="F97316"/>
                </a:solidFill>
              </a:rPr>
              <a:t>  +1.5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97316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author.email ≠ committer.email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97316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Credential sharing between developers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97316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Impersonation — attacker attributes to trusted dev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97316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Compromised account in different timezone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749039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41732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5. Off-Hours Commits</a:t>
            </a:r>
            <a:r>
              <a:rPr sz="1400" b="1">
                <a:solidFill>
                  <a:srgbClr val="EAB308"/>
                </a:solidFill>
              </a:rPr>
              <a:t>  +1.0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Personalized per developer (not fixed hours)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Rolling 60-commit baseline, z-score analysis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z ≥ 2.0 → Medium  |  z ≥ 3.0 → High anomaly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3 AM commit from 9-5 dev = z-score 4.5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023360"/>
            <a:ext cx="3749039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6. Large Deletions</a:t>
            </a:r>
            <a:r>
              <a:rPr sz="1400" b="1">
                <a:solidFill>
                  <a:srgbClr val="EAB308"/>
                </a:solidFill>
              </a:rPr>
              <a:t>  +1.0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Absolute: &gt; 500 lines deleted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Behavioral: &gt; 5x developer's baseline average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Sabotage, cover tracks, IP theft preparation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Denial of service via migration file deletion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023360"/>
            <a:ext cx="3749039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16052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7. Unsigned Commits</a:t>
            </a:r>
            <a:r>
              <a:rPr sz="1400" b="1">
                <a:solidFill>
                  <a:srgbClr val="EAB308"/>
                </a:solidFill>
              </a:rPr>
              <a:t>  +0.5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Missing GPG/SSH signature verification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Attacker has PAT but not signing key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Supporting signal in compound detection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Unsigned + off-hours + sensitive file = strong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023360"/>
            <a:ext cx="3749039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16052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9. Suspicious Messages</a:t>
            </a:r>
            <a:r>
              <a:rPr sz="1400" b="1">
                <a:solidFill>
                  <a:srgbClr val="EAB308"/>
                </a:solidFill>
              </a:rPr>
              <a:t>  +0.5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Only on non-trivial commits (&gt;50 lines)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Empty or &lt;4 chars: "", "."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Single-word vague: "fix", "wip", "stuff"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EAB308"/>
                </a:solidFill>
              </a:rPr>
              <a:t>  •  </a:t>
            </a:r>
            <a:r>
              <a:rPr sz="1100">
                <a:solidFill>
                  <a:srgbClr val="CBD5E1"/>
                </a:solidFill>
              </a:rPr>
              <a:t>487 lines added with message '.' → flagged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03c  </a:t>
            </a:r>
            <a:r>
              <a:rPr sz="2800" b="1">
                <a:solidFill>
                  <a:srgbClr val="FFFFFF"/>
                </a:solidFill>
              </a:rPr>
              <a:t>Supply Chain &amp; Infrastructure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5669280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</a:rPr>
              <a:t>10. Binary File Injection</a:t>
            </a:r>
            <a:r>
              <a:rPr sz="1300" b="1">
                <a:solidFill>
                  <a:srgbClr val="F97316"/>
                </a:solidFill>
              </a:rPr>
              <a:t>  |  +1.0/file (cap 2.0)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Executables: .exe .dll .so .dylib .bin .msi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Archives: .zip .tar .rar .7z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Database dumps: .sql .sqlite .dump .bak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Binary files bypass code review — can't diff them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Malware delivery, data exfiltration via .zip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669280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</a:rPr>
              <a:t>11. Dependency Manipulation</a:t>
            </a:r>
            <a:r>
              <a:rPr sz="1300" b="1">
                <a:solidFill>
                  <a:srgbClr val="F97316"/>
                </a:solidFill>
              </a:rPr>
              <a:t>  |  +1.5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Typosquat suspect (l0dash, requ3sts)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Vulnerable version pinning (log4j 2.14)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Custom registry URL — supply chain hijack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preinstall/postinstall scripts on npm install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Removing security deps (helmet, bcrypt, bandit)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023360"/>
            <a:ext cx="5669280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</a:rPr>
              <a:t>12. CI/CD Pipeline Tampering</a:t>
            </a:r>
            <a:r>
              <a:rPr sz="1300" b="1">
                <a:solidFill>
                  <a:srgbClr val="EF4444"/>
                </a:solidFill>
              </a:rPr>
              <a:t>  |  +1.5/find (cap 3.0)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Security scan disabled (Snyk/SonarQube/Trivy)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Hook bypass: --no-verify flags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Secret exfiltration: echo $SECRET | curl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Deploy target changes without PR flow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Untrusted base images in Dockerfile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669280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</a:rPr>
              <a:t>13. Config &amp; Permission Weakening</a:t>
            </a:r>
            <a:r>
              <a:rPr sz="1300" b="1">
                <a:solidFill>
                  <a:srgbClr val="F97316"/>
                </a:solidFill>
              </a:rPr>
              <a:t>  |  +1.0/find (cap 2.0)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CORS wildcard (*) — any site can call your API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MFA disabled, auth requirement removed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Rate limit disabled, debug mode enabled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.gitignore unignored — secrets get tracked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CODEOWNERS removed — bypasses review gates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04  </a:t>
            </a:r>
            <a:r>
              <a:rPr sz="2800" b="1">
                <a:solidFill>
                  <a:srgbClr val="FFFFFF"/>
                </a:solidFill>
              </a:rPr>
              <a:t>Behavioral Baseline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669280" cy="50292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Per-Developer Behavioral Profiling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94A3B8"/>
                </a:solidFill>
              </a:defRPr>
            </a:pPr>
            <a:r>
              <a:t>Rolling window of 60 commits per developer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6366F1"/>
                </a:solidFill>
              </a:defRPr>
            </a:pPr>
            <a:r>
              <a:t>Baseline Metrics Computed: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Mean Commit Hour — average time of day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Std Dev (Hours) — how much time varies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Avg Additions / Deletions — typical change size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P90 Additions — their "large" commit threshold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Avg Files Changed — typical scope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Avg Risk Score — historical risk level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Commits/Week — activity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669280" cy="50292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Baseline Maturity Progression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EF4444"/>
                </a:solidFill>
              </a:defRPr>
            </a:pPr>
            <a:r>
              <a:t>&lt; 5 commits → Insufficient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94A3B8"/>
                </a:solidFill>
              </a:defRPr>
            </a:pPr>
            <a:r>
              <a:t>Not enough data. No anomaly detection active.</a:t>
            </a:r>
            <a:br/>
            <a:r>
              <a:t>Monitoring only.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EAB308"/>
                </a:solidFill>
              </a:defRPr>
            </a:pPr>
            <a:r>
              <a:t>5–19 commits → Partial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94A3B8"/>
                </a:solidFill>
              </a:defRPr>
            </a:pPr>
            <a:r>
              <a:t>Basic window-based checks (outside typical hours).</a:t>
            </a:r>
            <a:br/>
            <a:r>
              <a:t>No z-score analysis yet.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10B981"/>
                </a:solidFill>
              </a:defRPr>
            </a:pPr>
            <a:r>
              <a:t>20+ commits → Established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94A3B8"/>
                </a:solidFill>
              </a:defRPr>
            </a:pPr>
            <a:r>
              <a:t>Full statistical analysis: z-scores for timing,</a:t>
            </a:r>
            <a:br/>
            <a:r>
              <a:t>multiplier-based size detection, risk trend analysis.</a:t>
            </a:r>
            <a:br/>
            <a:r>
              <a:t>High confidence anomaly detection.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6B6D4"/>
                </a:solidFill>
              </a:defRPr>
            </a:pPr>
            <a:r>
              <a:t>Key insight: A commit that's normal for a senior</a:t>
            </a:r>
            <a:br/>
            <a:r>
              <a:t>backend engineer may be highly anomalous for</a:t>
            </a:r>
            <a:br/>
            <a:r>
              <a:t>a frontend intern.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05  </a:t>
            </a:r>
            <a:r>
              <a:rPr sz="2800" b="1">
                <a:solidFill>
                  <a:srgbClr val="FFFFFF"/>
                </a:solidFill>
              </a:rPr>
              <a:t>Risk Scoring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7772400" cy="53035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64748B"/>
                </a:solidFill>
              </a:defRPr>
            </a:pPr>
            <a:r>
              <a:t>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3716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64748B"/>
                </a:solidFill>
              </a:defRPr>
            </a:pPr>
            <a: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64748B"/>
                </a:solidFill>
              </a:defRPr>
            </a:pPr>
            <a:r>
              <a:t>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Critical SAST finding (backdoor, exfiltration)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7373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Layer 4 — Diff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EF4444"/>
                </a:solidFill>
              </a:defRPr>
            </a:pPr>
            <a:r>
              <a:t>+2.5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84831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Force push (history rewrite)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84831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Webhook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84831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EF4444"/>
                </a:solidFill>
              </a:defRPr>
            </a:pPr>
            <a:r>
              <a:t>+2.0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32304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CI/CD pipeline tampering (per finding, cap 3.0)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3230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Layer 4 —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3230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EF4444"/>
                </a:solidFill>
              </a:defRPr>
            </a:pPr>
            <a:r>
              <a:t>+1.5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79776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High SAST 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79776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Layer 4 — Diff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79776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97316"/>
                </a:solidFill>
              </a:defRPr>
            </a:pPr>
            <a:r>
              <a:t>+1.5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2724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Author / committer mismatch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12724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Layer 1 — Metadata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2724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97316"/>
                </a:solidFill>
              </a:defRPr>
            </a:pPr>
            <a:r>
              <a:t>+1.5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Sensitive file touched (per file, cap 3.0)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4747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Layer 3 —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474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97316"/>
                </a:solidFill>
              </a:defRPr>
            </a:pPr>
            <a:r>
              <a:t>+1.5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22191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Dependency manipulation (supply chain)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822191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Layer 4 — Manifests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22191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97316"/>
                </a:solidFill>
              </a:defRPr>
            </a:pPr>
            <a:r>
              <a:t>+1.5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169664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Binary file injection (per file, cap 2.0)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16966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Layer 3 — Files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16966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97316"/>
                </a:solidFill>
              </a:defRPr>
            </a:pPr>
            <a:r>
              <a:t>+1.0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17136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Off-hours commit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517136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Layer 1 +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517136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EAB308"/>
                </a:solidFill>
              </a:defRPr>
            </a:pPr>
            <a:r>
              <a:t>+1.0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6460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Large deletion (&gt;500 or &gt;5x baseline)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864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Layer 2 + 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86460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EAB308"/>
                </a:solidFill>
              </a:defRPr>
            </a:pPr>
            <a:r>
              <a:t>+1.0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212079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Config / permission weakening (cap 2.0)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5212079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Layer 4 — Config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21207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EAB308"/>
                </a:solidFill>
              </a:defRPr>
            </a:pPr>
            <a:r>
              <a:t>+1.0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559552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Unsigned commit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555955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Layer 1 — Metadata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595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EAB308"/>
                </a:solidFill>
              </a:defRPr>
            </a:pPr>
            <a:r>
              <a:t>+0.5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907024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Suspicious commit message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590702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Layer 1 — Metadata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90702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EAB308"/>
                </a:solidFill>
              </a:defRPr>
            </a:pPr>
            <a:r>
              <a:t>+0.5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1371600"/>
            <a:ext cx="3474720" cy="8686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9640" y="1444752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EF4444"/>
                </a:solidFill>
              </a:defRPr>
            </a:pPr>
            <a:r>
              <a:t>8 –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1417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EF4444"/>
                </a:solidFill>
              </a:defRPr>
            </a:pPr>
            <a:r>
              <a:t>CRITICAL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</a:defRPr>
            </a:pPr>
            <a:r>
              <a:t>Immediate investigation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2377440"/>
            <a:ext cx="3474720" cy="8686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2450592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97316"/>
                </a:solidFill>
              </a:defRPr>
            </a:pPr>
            <a:r>
              <a:t>5 – 7.9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24231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F97316"/>
                </a:solidFill>
              </a:defRPr>
            </a:pPr>
            <a:r>
              <a:t>HIGH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</a:defRPr>
            </a:pPr>
            <a:r>
              <a:t>Review within hours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3383280"/>
            <a:ext cx="3474720" cy="8686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9640" y="3456432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EAB308"/>
                </a:solidFill>
              </a:defRPr>
            </a:pPr>
            <a:r>
              <a:t>2.5 – 4.9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4290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EAB308"/>
                </a:solidFill>
              </a:defRPr>
            </a:pPr>
            <a:r>
              <a:t>MEDIUM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</a:defRPr>
            </a:pPr>
            <a:r>
              <a:t>Next triage cycle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12480" y="4389120"/>
            <a:ext cx="3474720" cy="8686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49640" y="4462272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6366F1"/>
                </a:solidFill>
              </a:defRPr>
            </a:pPr>
            <a:r>
              <a:t>0.1 – 2.4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44348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6366F1"/>
                </a:solidFill>
              </a:defRPr>
            </a:pPr>
            <a:r>
              <a:t>LOW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</a:defRPr>
            </a:pPr>
            <a:r>
              <a:t>Log for patterns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5394960"/>
            <a:ext cx="3474720" cy="8686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49640" y="5468112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0B981"/>
                </a:solidFill>
              </a:defRPr>
            </a:pPr>
            <a: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54406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0B981"/>
                </a:solidFill>
              </a:defRPr>
            </a:pPr>
            <a:r>
              <a:t>CLEAN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</a:defRPr>
            </a:pPr>
            <a:r>
              <a:t>No signals detected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06  </a:t>
            </a:r>
            <a:r>
              <a:rPr sz="2800" b="1">
                <a:solidFill>
                  <a:srgbClr val="FFFFFF"/>
                </a:solidFill>
              </a:rPr>
              <a:t>Real-World Insider Threat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3749039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EF4444"/>
                </a:solidFill>
              </a:defRPr>
            </a:pPr>
            <a:r>
              <a:t>The Departing Engineer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Employee under notice pushes code at 2 AM that deletes 1,200 lines of auth code and adds a hardcoded admin bypass.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</a:defRPr>
            </a:pPr>
            <a:r>
              <a:t>Off-Hours  |  Large Deletion  |  Backdoor SAST  |  Behavioral Anomaly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t>Score: 7.0 (High)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280160"/>
            <a:ext cx="3749039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371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EF4444"/>
                </a:solidFill>
              </a:defRPr>
            </a:pPr>
            <a:r>
              <a:t>The Credential Harvester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Developer adds personal AWS key to .env and modifies deploy script to exfiltrate DB connection strings externally.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</a:defRPr>
            </a:pPr>
            <a:r>
              <a:t>Sensitive File  |  AWS Key  |  Exfiltration Pattern  |  Connection String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t>Score: 8.5 (Critical)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749039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371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97316"/>
                </a:solidFill>
              </a:defRPr>
            </a:pPr>
            <a:r>
              <a:t>The Supply Chain Poisoner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Adds typosquatted npm package with postinstall script, while removing Snyk security scanning from GitHub Actions. Message: 'deps update'.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</a:defRPr>
            </a:pPr>
            <a:r>
              <a:t>Dependency Tampering  |  CI/CD Tampering  |  Install Script  |  Suspicious Message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F97316"/>
                </a:solidFill>
              </a:defRPr>
            </a:pPr>
            <a:r>
              <a:t>Score: 5.5 (High)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023360"/>
            <a:ext cx="3749039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1148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97316"/>
                </a:solidFill>
              </a:defRPr>
            </a:pPr>
            <a:r>
              <a:t>The Compromised Account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Attacker with stolen credentials pushes unsigned commit from different timezone, adding reverse shell in utility file.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</a:defRPr>
            </a:pPr>
            <a:r>
              <a:t>Unsigned  |  Off-Hours  |  Reverse Shell SAST  |  Timing Anomaly z=4.8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F97316"/>
                </a:solidFill>
              </a:defRPr>
            </a:pPr>
            <a:r>
              <a:t>Score: 6.0 (High)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023360"/>
            <a:ext cx="3749039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41148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EAB308"/>
                </a:solidFill>
              </a:defRPr>
            </a:pPr>
            <a:r>
              <a:t>The Quiet Enabler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Small config changes over weeks: CORS to *, MFA disabled, .env removed from .gitignore, CODEOWNERS emptied.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</a:defRPr>
            </a:pPr>
            <a:r>
              <a:t>Config Weakening (x4)  |  Gradual Pattern  |  No SAST Findings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EAB308"/>
                </a:solidFill>
              </a:defRPr>
            </a:pPr>
            <a:r>
              <a:t>Score: 4.0/commit (Medium) — Trend: Increasing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023360"/>
            <a:ext cx="3749039" cy="25603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1148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EF4444"/>
                </a:solidFill>
              </a:defRPr>
            </a:pPr>
            <a:r>
              <a:t>The Evidence Destroyer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BD5E1"/>
                </a:solidFill>
              </a:defRPr>
            </a:pPr>
            <a:r>
              <a:t>Force-pushes to main, rewriting 3 weeks of history. Overwritten commits had security audit logs and access control changes.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</a:defRPr>
            </a:pPr>
            <a:r>
              <a:t>Force Push  |  History Rewrite  |  Protected Branch  |  Risk Spike 3x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t>Score: 5.5 (High)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07  </a:t>
            </a:r>
            <a:r>
              <a:rPr sz="2800" b="1">
                <a:solidFill>
                  <a:srgbClr val="FFFFFF"/>
                </a:solidFill>
              </a:rPr>
              <a:t>Competitive Landscape — Market Positioning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5760720" cy="50292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Code-Level Insider Threat Tools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97316"/>
                </a:solidFill>
              </a:rPr>
              <a:t>Arnica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94A3B8"/>
                </a:solidFill>
              </a:rPr>
              <a:t>Closest competitor. Scans every commit, has anomalous dev behavior detection. But broader AppSec posture focus, not composite risk scoring.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97316"/>
                </a:solidFill>
              </a:rPr>
              <a:t>Cycode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94A3B8"/>
                </a:solidFill>
              </a:rPr>
              <a:t>Software supply chain security. Code integrity across SDLC, pipeline tampering. Not individual developer risk profiling.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97316"/>
                </a:solidFill>
              </a:rPr>
              <a:t>GitGuardian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94A3B8"/>
                </a:solidFill>
              </a:rPr>
              <a:t>#1 on GitHub Marketplace (500K+ devs). Secrets detection only. No behavioral signals or risk scoring.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97316"/>
                </a:solidFill>
              </a:rPr>
              <a:t>Legit Security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94A3B8"/>
                </a:solidFill>
              </a:rPr>
              <a:t>SDLC posture monitoring. Detects misconfigs in dev infrastructure. Not per-commit analysis.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</a:defRPr>
            </a:pPr>
            <a:r>
              <a:t>Adjacent: DTEX, Proofpoint ITM, Exabeam, Teramind, MS Purview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4748B"/>
                </a:solidFill>
              </a:defRPr>
            </a:pPr>
            <a:r>
              <a:t>(Endpoint/SIEM-level — not code-specific)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669280" cy="50292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Our Key Differentiators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SAST on commit diffs (58+ insider threat rules) — nobody else does this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Composite risk scoring (0-10) combining ALL signal types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Per-developer behavioral baselines with z-score anomaly detection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Supply chain signals (typosquatting, vuln pins, custom registries)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CI/CD pipeline tampering detection (11 patterns)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Config weakening detection (9 patterns)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Binary file injection tracking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Developer risk profiles with trend analysis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Commit message anomaly detection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</a:rPr>
              <a:t>  •  </a:t>
            </a:r>
            <a:r>
              <a:rPr sz="1200">
                <a:solidFill>
                  <a:srgbClr val="CBD5E1"/>
                </a:solidFill>
              </a:rPr>
              <a:t>Real-time monitoring without disrupting developer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08  </a:t>
            </a:r>
            <a:r>
              <a:rPr sz="2800" b="1">
                <a:solidFill>
                  <a:srgbClr val="FFFFFF"/>
                </a:solidFill>
              </a:rPr>
              <a:t>Feature Comparison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1612880" cy="53035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64748B"/>
                </a:solidFill>
              </a:defRPr>
            </a:pPr>
            <a:r>
              <a:t>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64748B"/>
                </a:solidFill>
              </a:defRPr>
            </a:pPr>
            <a:r>
              <a:t>Arnica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64748B"/>
                </a:solidFill>
              </a:defRPr>
            </a:pPr>
            <a:r>
              <a:t>Cycode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258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64748B"/>
                </a:solidFill>
              </a:defRPr>
            </a:pPr>
            <a:r>
              <a:t>GitGuardian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325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SecureDev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FFFFF"/>
                </a:solidFill>
              </a:defRPr>
            </a:pPr>
            <a:r>
              <a:t>SAST on commit diffs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7373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EAB308"/>
                </a:solidFill>
              </a:defRPr>
            </a:pPr>
            <a:r>
              <a:t>Partial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373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7373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  58+ IT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7627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FFFFF"/>
                </a:solidFill>
              </a:defRPr>
            </a:pPr>
            <a:r>
              <a:t>Metadata signals (off-hours, unsigned, mismatch)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17627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7627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17627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17627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15184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FFFFF"/>
                </a:solidFill>
              </a:defRPr>
            </a:pPr>
            <a:r>
              <a:t>Sensitive file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615184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15184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61518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EAB308"/>
                </a:solidFill>
              </a:defRPr>
            </a:pPr>
            <a:r>
              <a:t>Secrets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15184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  Path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054096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FFFFF"/>
                </a:solidFill>
              </a:defRPr>
            </a:pPr>
            <a:r>
              <a:t>Binary file injection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054096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54096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05409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49300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FFFFF"/>
                </a:solidFill>
              </a:defRPr>
            </a:pPr>
            <a:r>
              <a:t>Dependency tampering (typosquatting)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49300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EAB308"/>
                </a:solidFill>
              </a:defRPr>
            </a:pPr>
            <a:r>
              <a:t>SCA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49300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EAB308"/>
                </a:solidFill>
              </a:defRPr>
            </a:pPr>
            <a:r>
              <a:t>SCA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49300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4930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  Diff-aware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31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FFFFF"/>
                </a:solidFill>
              </a:defRPr>
            </a:pPr>
            <a:r>
              <a:t>CI/CD pipeline tampering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9319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9319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EAB308"/>
                </a:solidFill>
              </a:defRPr>
            </a:pPr>
            <a:r>
              <a:t>Partial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3931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931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  11 patterns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370831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FFFFF"/>
                </a:solidFill>
              </a:defRPr>
            </a:pPr>
            <a:r>
              <a:t>Config weakening detection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370831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370831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37083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370831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  9 patterns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809744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FFFFF"/>
                </a:solidFill>
              </a:defRPr>
            </a:pPr>
            <a:r>
              <a:t>Developer behavioral baseline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809744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809744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80974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809744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  Z-score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248656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FFFFF"/>
                </a:solidFill>
              </a:defRPr>
            </a:pPr>
            <a:r>
              <a:t>Commit message anomaly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5248656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248656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524865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524865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68756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FFFFF"/>
                </a:solidFill>
              </a:defRPr>
            </a:pPr>
            <a:r>
              <a:t>Composite risk scoring (0-10)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56875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EAB308"/>
                </a:solidFill>
              </a:defRPr>
            </a:pPr>
            <a:r>
              <a:t>Per finding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56875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568756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</a:defRPr>
            </a:pPr>
            <a:r>
              <a:t>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56875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Nobody combines SAST findings + metadata signals + behavioral baselines + supply chain signals in a single developer risk profile.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09  </a:t>
            </a:r>
            <a:r>
              <a:rPr sz="2800" b="1">
                <a:solidFill>
                  <a:srgbClr val="FFFFFF"/>
                </a:solidFill>
              </a:rPr>
              <a:t>Why SecureDev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743200" cy="41148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1031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800" b="1">
                <a:solidFill>
                  <a:srgbClr val="EF4444"/>
                </a:solidFill>
              </a:defRPr>
            </a:pPr>
            <a:r>
              <a:t>Code-Level Detection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CBD5E1"/>
                </a:solidFill>
              </a:defRPr>
            </a:pPr>
            <a:r>
              <a:t>We analyze actual code diffs, not just metadata or network logs. Every added line is scanned against 58+ insider threat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743200" cy="41148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21031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800" b="1">
                <a:solidFill>
                  <a:srgbClr val="6366F1"/>
                </a:solidFill>
              </a:defRPr>
            </a:pPr>
            <a:r>
              <a:t>Behavioral Intelligence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CBD5E1"/>
                </a:solidFill>
              </a:defRPr>
            </a:pPr>
            <a:r>
              <a:t>Per-developer baselines with rolling 60-commit windows. Z-score anomaly detection personalized to each individual's pattern.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743200" cy="41148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800" b="1">
                <a:solidFill>
                  <a:srgbClr val="F97316"/>
                </a:solidFill>
              </a:defRPr>
            </a:pPr>
            <a:r>
              <a:t>Composite Risk Scoring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CBD5E1"/>
                </a:solidFill>
              </a:defRPr>
            </a:pPr>
            <a:r>
              <a:t>13 signals weighted into a single 0-10 score. Compound signals amplify risk — no single signal causes a false positive.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45920"/>
            <a:ext cx="2743200" cy="41148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21031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800" b="1">
                <a:solidFill>
                  <a:srgbClr val="10B981"/>
                </a:solidFill>
              </a:defRPr>
            </a:pPr>
            <a:r>
              <a:t>Zero-Friction Deployment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CBD5E1"/>
                </a:solidFill>
              </a:defRPr>
            </a:pPr>
            <a:r>
              <a:t>Connects via GitHub API. No agents to install, no developer workflow changes. Monitoring starts immediately on existing repos.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Aft>
                <a:spcPts val="2400"/>
              </a:spcAft>
              <a:defRPr sz="2000" b="0">
                <a:solidFill>
                  <a:srgbClr val="94A3B8"/>
                </a:solidFill>
              </a:defRPr>
            </a:pPr>
            <a:r>
              <a:t>Insider Threat Detection via Commit Intelligence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6366F1"/>
                </a:solidFill>
              </a:defRPr>
            </a:pPr>
            <a:r>
              <a:t>SecureDev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